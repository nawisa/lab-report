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1398" r:id="rId2"/>
    <p:sldId id="1269" r:id="rId3"/>
    <p:sldId id="1393" r:id="rId4"/>
    <p:sldId id="1423" r:id="rId5"/>
    <p:sldId id="1420" r:id="rId6"/>
    <p:sldId id="1424" r:id="rId7"/>
    <p:sldId id="1425" r:id="rId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920E203-40E7-4E6D-A325-4E8201F85D74}">
          <p14:sldIdLst>
            <p14:sldId id="1398"/>
            <p14:sldId id="1269"/>
            <p14:sldId id="1393"/>
            <p14:sldId id="1423"/>
            <p14:sldId id="1420"/>
            <p14:sldId id="1424"/>
            <p14:sldId id="142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電子系三甲-廖彥翔" initials="電子系三甲-廖彥翔" lastIdx="1" clrIdx="0">
    <p:extLst>
      <p:ext uri="{19B8F6BF-5375-455C-9EA6-DF929625EA0E}">
        <p15:presenceInfo xmlns:p15="http://schemas.microsoft.com/office/powerpoint/2012/main" userId="電子系三甲-廖彥翔" providerId="None"/>
      </p:ext>
    </p:extLst>
  </p:cmAuthor>
  <p:cmAuthor id="2" name="帥哥" initials="大帥哥" lastIdx="1" clrIdx="1">
    <p:extLst>
      <p:ext uri="{19B8F6BF-5375-455C-9EA6-DF929625EA0E}">
        <p15:presenceInfo xmlns:p15="http://schemas.microsoft.com/office/powerpoint/2012/main" userId="帥哥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00FF"/>
    <a:srgbClr val="E1BBE0"/>
    <a:srgbClr val="FFFFFF"/>
    <a:srgbClr val="FF7373"/>
    <a:srgbClr val="FF66FF"/>
    <a:srgbClr val="A7CD8E"/>
    <a:srgbClr val="E5F5FF"/>
    <a:srgbClr val="FFFF99"/>
    <a:srgbClr val="FF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0" autoAdjust="0"/>
    <p:restoredTop sz="87135" autoAdjust="0"/>
  </p:normalViewPr>
  <p:slideViewPr>
    <p:cSldViewPr snapToGrid="0">
      <p:cViewPr varScale="1">
        <p:scale>
          <a:sx n="57" d="100"/>
          <a:sy n="57" d="100"/>
        </p:scale>
        <p:origin x="824" y="52"/>
      </p:cViewPr>
      <p:guideLst>
        <p:guide orient="horz" pos="2160"/>
        <p:guide pos="3840"/>
      </p:guideLst>
    </p:cSldViewPr>
  </p:slideViewPr>
  <p:outlineViewPr>
    <p:cViewPr>
      <p:scale>
        <a:sx n="20" d="100"/>
        <a:sy n="20" d="100"/>
      </p:scale>
      <p:origin x="0" y="-264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2492"/>
    </p:cViewPr>
  </p:sorterViewPr>
  <p:notesViewPr>
    <p:cSldViewPr snapToGrid="0">
      <p:cViewPr varScale="1">
        <p:scale>
          <a:sx n="86" d="100"/>
          <a:sy n="86" d="100"/>
        </p:scale>
        <p:origin x="3786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29F8E0-05F2-4742-BB97-D2E4F51035C8}" type="datetimeFigureOut">
              <a:rPr lang="zh-TW" altLang="en-US" smtClean="0"/>
              <a:t>2022/6/22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EDBFE4-86DF-49E3-AB07-98BBBFC4556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92504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B905C5-9D54-40E2-B40C-7996280CAB02}" type="datetimeFigureOut">
              <a:rPr lang="zh-TW" altLang="en-US" smtClean="0"/>
              <a:t>2022/6/22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8A6B0B-A5FB-4629-B823-69B1A9EB3A4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9117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A6B0B-A5FB-4629-B823-69B1A9EB3A43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86159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8A6B0B-A5FB-4629-B823-69B1A9EB3A43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61386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 err="1"/>
              <a:t>Yolor</a:t>
            </a:r>
            <a:r>
              <a:rPr lang="en-US" dirty="0"/>
              <a:t> adopts any model in yolov4? Do they have common component or not?</a:t>
            </a:r>
          </a:p>
          <a:p>
            <a:pPr marL="171450" indent="-171450">
              <a:buFontTx/>
              <a:buChar char="-"/>
            </a:pPr>
            <a:r>
              <a:rPr lang="en-US" dirty="0"/>
              <a:t>What is the most important progress which improve from the previous version?</a:t>
            </a:r>
          </a:p>
          <a:p>
            <a:pPr marL="171450" indent="-171450">
              <a:buFontTx/>
              <a:buChar char="-"/>
            </a:pPr>
            <a:r>
              <a:rPr lang="en-US" dirty="0"/>
              <a:t>What are the problems of R?</a:t>
            </a:r>
          </a:p>
          <a:p>
            <a:pPr marL="171450" indent="-171450">
              <a:buFontTx/>
              <a:buChar char="-"/>
            </a:pPr>
            <a:r>
              <a:rPr lang="en-US" dirty="0"/>
              <a:t>Concept points? To make comparison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8A6B0B-A5FB-4629-B823-69B1A9EB3A43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47900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the purpose of each boxes. (need to have the purpose first),(* purpose of analyzer -&gt; representation).</a:t>
            </a:r>
          </a:p>
          <a:p>
            <a:r>
              <a:rPr lang="en-US" dirty="0"/>
              <a:t>Can we make replace some of this box with some image processing techniques? To have more efficient ways.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8A6B0B-A5FB-4629-B823-69B1A9EB3A43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16063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838200" y="4295163"/>
            <a:ext cx="10515600" cy="1964122"/>
          </a:xfrm>
        </p:spPr>
        <p:txBody>
          <a:bodyPr>
            <a:normAutofit/>
          </a:bodyPr>
          <a:lstStyle>
            <a:lvl1pPr marL="0" indent="0" algn="l">
              <a:spcBef>
                <a:spcPts val="1000"/>
              </a:spcBef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dirty="0"/>
              <a:t>按一下以編輯母片副標題樣式</a:t>
            </a:r>
          </a:p>
        </p:txBody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838200" y="1389529"/>
            <a:ext cx="10515600" cy="2905634"/>
          </a:xfrm>
        </p:spPr>
        <p:txBody>
          <a:bodyPr anchor="t"/>
          <a:lstStyle>
            <a:lvl1pPr algn="ctr">
              <a:defRPr sz="60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6F88C-7F79-4FAB-B5F7-BEC60D238605}" type="datetime1">
              <a:rPr lang="zh-TW" altLang="en-US" smtClean="0"/>
              <a:t>2022/6/22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9516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201850"/>
            <a:ext cx="10515600" cy="5037776"/>
          </a:xfrm>
        </p:spPr>
        <p:txBody>
          <a:bodyPr>
            <a:normAutofit/>
          </a:bodyPr>
          <a:lstStyle>
            <a:lvl1pPr hangingPunct="0">
              <a:defRPr sz="1600"/>
            </a:lvl1pPr>
            <a:lvl2pPr hangingPunct="0">
              <a:defRPr sz="1600"/>
            </a:lvl2pPr>
            <a:lvl3pPr hangingPunct="0">
              <a:defRPr sz="1600"/>
            </a:lvl3pPr>
            <a:lvl4pPr hangingPunct="0">
              <a:defRPr sz="1600"/>
            </a:lvl4pPr>
            <a:lvl5pPr hangingPunct="0">
              <a:defRPr sz="1600"/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69F97-A2BF-4FF3-BDE8-69CBC2DB5054}" type="datetime1">
              <a:rPr lang="zh-TW" altLang="en-US" smtClean="0"/>
              <a:t>2022/6/22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8426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6F18B-9C2F-4CF9-883A-DE9FA1C825E4}" type="datetime1">
              <a:rPr lang="zh-TW" altLang="en-US" smtClean="0"/>
              <a:t>2022/6/22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2606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3B11E-F6FF-451C-9D3B-002EE25B0844}" type="datetime1">
              <a:rPr lang="zh-TW" altLang="en-US" smtClean="0"/>
              <a:t>2022/6/22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1493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ECD70-B55D-4572-9CCD-7EC0C3A8FFFC}" type="datetime1">
              <a:rPr lang="zh-TW" altLang="en-US" smtClean="0"/>
              <a:t>2022/6/22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3767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2E8EA-6E83-4F1B-BD11-97E33CB23F85}" type="datetime1">
              <a:rPr lang="zh-TW" altLang="en-US" smtClean="0"/>
              <a:t>2022/6/22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6634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C181D-0CFF-4D19-B722-C8388C5BC933}" type="datetime1">
              <a:rPr lang="zh-TW" altLang="en-US" smtClean="0"/>
              <a:t>2022/6/22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1833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6DCE7-62EF-4678-8384-5A618B971DE5}" type="datetime1">
              <a:rPr lang="zh-TW" altLang="en-US" smtClean="0"/>
              <a:t>2022/6/22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2368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3297B-F028-42A3-9DB1-CC077738181D}" type="datetime1">
              <a:rPr lang="zh-TW" altLang="en-US" smtClean="0"/>
              <a:t>2022/6/22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1845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2B5F5-2961-4341-8512-AF8D150B7A4B}" type="datetime1">
              <a:rPr lang="zh-TW" altLang="en-US" smtClean="0"/>
              <a:t>2022/6/22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8943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B7078-E44F-431B-9E67-AA9D162DEB5B}" type="datetime1">
              <a:rPr lang="zh-TW" altLang="en-US" smtClean="0"/>
              <a:t>2022/6/22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6410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202572"/>
            <a:ext cx="10515600" cy="50370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3B3EB891-7FEE-4AB4-8B9C-67179A1A854C}" type="datetime1">
              <a:rPr lang="zh-TW" altLang="en-US" smtClean="0"/>
              <a:t>2022/6/22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90F9E983-480B-48C5-9E0F-D21C0DFBB5C0}" type="slidenum">
              <a:rPr lang="zh-TW" altLang="en-US" smtClean="0"/>
              <a:pPr/>
              <a:t>‹#›</a:t>
            </a:fld>
            <a:endParaRPr lang="zh-TW" altLang="en-US"/>
          </a:p>
        </p:txBody>
      </p:sp>
      <p:cxnSp>
        <p:nvCxnSpPr>
          <p:cNvPr id="9" name="直線接點 8"/>
          <p:cNvCxnSpPr/>
          <p:nvPr userDrawn="1"/>
        </p:nvCxnSpPr>
        <p:spPr>
          <a:xfrm>
            <a:off x="838200" y="1143848"/>
            <a:ext cx="105156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直線接點 9"/>
          <p:cNvCxnSpPr/>
          <p:nvPr userDrawn="1"/>
        </p:nvCxnSpPr>
        <p:spPr>
          <a:xfrm>
            <a:off x="838200" y="6296092"/>
            <a:ext cx="10515600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1" name="Shape 13" descr="C:\Documents and Settings\frederic\My Documents\My Pictures\Wallpaper Images\GSLAB_LOGO1-120x120.jpg"/>
          <p:cNvPicPr preferRelativeResize="0">
            <a:picLocks noChangeAspect="1"/>
          </p:cNvPicPr>
          <p:nvPr userDrawn="1"/>
        </p:nvPicPr>
        <p:blipFill rotWithShape="1">
          <a:blip r:embed="rId13">
            <a:alphaModFix/>
          </a:blip>
          <a:srcRect/>
          <a:stretch/>
        </p:blipFill>
        <p:spPr>
          <a:xfrm>
            <a:off x="11596536" y="6270925"/>
            <a:ext cx="561907" cy="5619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98425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</p:titleStyle>
    <p:bodyStyle>
      <a:lvl1pPr marL="144000" indent="-144000" algn="l" defTabSz="914400" rtl="0" eaLnBrk="1" latinLnBrk="0" hangingPunct="0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685800" indent="-228600" algn="l" defTabSz="914400" rtl="0" eaLnBrk="1" latinLnBrk="0" hangingPunct="0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2pPr>
      <a:lvl3pPr marL="1143000" indent="-228600" algn="l" defTabSz="914400" rtl="0" eaLnBrk="1" latinLnBrk="0" hangingPunct="0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3pPr>
      <a:lvl4pPr marL="1600200" indent="-228600" algn="l" defTabSz="914400" rtl="0" eaLnBrk="1" latinLnBrk="0" hangingPunct="0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4pPr>
      <a:lvl5pPr marL="2057400" indent="-228600" algn="l" defTabSz="914400" rtl="0" eaLnBrk="1" latinLnBrk="0" hangingPunct="0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C4960A-08AB-46D4-AAFB-8C524707B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268537"/>
            <a:ext cx="10515600" cy="1160463"/>
          </a:xfrm>
        </p:spPr>
        <p:txBody>
          <a:bodyPr>
            <a:normAutofit/>
          </a:bodyPr>
          <a:lstStyle/>
          <a:p>
            <a:r>
              <a:rPr lang="zh-TW" altLang="en-US" dirty="0"/>
              <a:t>專題進度報告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07C41EE-0F75-455F-95CF-4786552D80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43496" y="4093075"/>
            <a:ext cx="5512527" cy="1500187"/>
          </a:xfrm>
        </p:spPr>
        <p:txBody>
          <a:bodyPr/>
          <a:lstStyle/>
          <a:p>
            <a:r>
              <a:rPr lang="zh-TW" altLang="en-US" dirty="0">
                <a:solidFill>
                  <a:schemeClr val="tx1"/>
                </a:solidFill>
              </a:rPr>
              <a:t>名子 </a:t>
            </a:r>
            <a:r>
              <a:rPr lang="en-US" altLang="zh-TW" dirty="0">
                <a:solidFill>
                  <a:schemeClr val="tx1"/>
                </a:solidFill>
              </a:rPr>
              <a:t>: Nawisa</a:t>
            </a:r>
          </a:p>
          <a:p>
            <a:endParaRPr lang="en-US" altLang="zh-TW" dirty="0">
              <a:solidFill>
                <a:schemeClr val="tx1"/>
              </a:solidFill>
            </a:endParaRPr>
          </a:p>
          <a:p>
            <a:r>
              <a:rPr lang="zh-TW" altLang="en-US" dirty="0">
                <a:solidFill>
                  <a:schemeClr val="tx1"/>
                </a:solidFill>
              </a:rPr>
              <a:t>日期 </a:t>
            </a:r>
            <a:r>
              <a:rPr lang="en-US" altLang="zh-TW" dirty="0">
                <a:solidFill>
                  <a:schemeClr val="tx1"/>
                </a:solidFill>
              </a:rPr>
              <a:t>: 6/21/22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1495181-344B-4DCD-A637-346A91B60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3751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838200" y="1494305"/>
            <a:ext cx="10515600" cy="2544296"/>
          </a:xfrm>
        </p:spPr>
        <p:txBody>
          <a:bodyPr anchor="t">
            <a:normAutofit/>
          </a:bodyPr>
          <a:lstStyle/>
          <a:p>
            <a:pPr>
              <a:lnSpc>
                <a:spcPct val="125000"/>
              </a:lnSpc>
            </a:pPr>
            <a:r>
              <a:rPr lang="zh-TW" altLang="en-US" sz="6600" dirty="0"/>
              <a:t>專題進度報告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762000" y="4381501"/>
            <a:ext cx="10515600" cy="1858736"/>
          </a:xfrm>
        </p:spPr>
        <p:txBody>
          <a:bodyPr numCol="3">
            <a:normAutofit/>
          </a:bodyPr>
          <a:lstStyle/>
          <a:p>
            <a:pPr algn="l"/>
            <a:r>
              <a:rPr lang="zh-TW" altLang="en-US" dirty="0"/>
              <a:t>負  責  人：</a:t>
            </a:r>
            <a:r>
              <a:rPr lang="en-US" altLang="zh-TW" dirty="0"/>
              <a:t>Prof. </a:t>
            </a:r>
            <a:r>
              <a:rPr lang="ja-JP" altLang="en-US" dirty="0"/>
              <a:t>陳朝烈</a:t>
            </a:r>
            <a:endParaRPr lang="en-US" altLang="zh-TW" dirty="0"/>
          </a:p>
          <a:p>
            <a:pPr algn="l"/>
            <a:r>
              <a:rPr lang="zh-TW" altLang="en-US" dirty="0"/>
              <a:t>目前成員：</a:t>
            </a:r>
          </a:p>
          <a:p>
            <a:pPr algn="l"/>
            <a:r>
              <a:rPr lang="zh-TW" altLang="en-US" dirty="0"/>
              <a:t>開始日期：</a:t>
            </a:r>
            <a:endParaRPr lang="en-US" altLang="zh-TW" dirty="0"/>
          </a:p>
          <a:p>
            <a:r>
              <a:rPr lang="zh-TW" altLang="en-US" dirty="0"/>
              <a:t>結束日期：</a:t>
            </a:r>
            <a:r>
              <a:rPr lang="en-US" altLang="zh-TW" dirty="0"/>
              <a:t>-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96089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8B9255F6-E79B-4294-834D-6D4140D1CF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1">
            <a:normAutofit/>
          </a:bodyPr>
          <a:lstStyle/>
          <a:p>
            <a:pPr marL="0" indent="0">
              <a:buNone/>
            </a:pPr>
            <a:r>
              <a:rPr lang="en-US" sz="2800" dirty="0"/>
              <a:t>To do list: 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FF0000"/>
                </a:solidFill>
              </a:rPr>
              <a:t>1</a:t>
            </a:r>
            <a:r>
              <a:rPr lang="en-US" sz="2800" dirty="0"/>
              <a:t>. Compare the architecture of two algorithms ,YOLOv4 and YOLOR. </a:t>
            </a:r>
            <a:r>
              <a:rPr lang="en-US" sz="2800" dirty="0">
                <a:solidFill>
                  <a:srgbClr val="FF0000"/>
                </a:solidFill>
              </a:rPr>
              <a:t>2</a:t>
            </a:r>
            <a:r>
              <a:rPr lang="en-US" sz="2800" dirty="0"/>
              <a:t>. Find special features of YOLOv4 and YOLOR, advantages and different things. </a:t>
            </a:r>
          </a:p>
          <a:p>
            <a:pPr marL="0" indent="0">
              <a:buNone/>
            </a:pPr>
            <a:r>
              <a:rPr lang="en-US" sz="2800" dirty="0"/>
              <a:t>3. Read Tutorials and research &gt;&gt; read paper.</a:t>
            </a:r>
            <a:endParaRPr lang="zh-TW" altLang="en-US" sz="3600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D7232380-22D4-47E6-A40E-ABF38AB20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To Do List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C364F06-FBAE-41F1-9123-C093E43AD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2258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DF2188-A59F-4BED-8C2D-8A29E77F3A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pPr marL="0" indent="0">
              <a:buNone/>
            </a:pPr>
            <a:r>
              <a:rPr lang="en-US" sz="2400" b="1" dirty="0"/>
              <a:t>YOLOv4:</a:t>
            </a:r>
          </a:p>
          <a:p>
            <a:pPr>
              <a:buFontTx/>
              <a:buChar char="-"/>
            </a:pPr>
            <a:r>
              <a:rPr lang="en-US" sz="2400" dirty="0">
                <a:solidFill>
                  <a:srgbClr val="FF0000"/>
                </a:solidFill>
              </a:rPr>
              <a:t>Input</a:t>
            </a:r>
            <a:r>
              <a:rPr lang="en-US" sz="2400" dirty="0"/>
              <a:t>: {Image, patches., Image Pyramid,…}</a:t>
            </a:r>
          </a:p>
          <a:p>
            <a:pPr>
              <a:buFontTx/>
              <a:buChar char="-"/>
            </a:pPr>
            <a:r>
              <a:rPr lang="en-US" sz="2400" dirty="0"/>
              <a:t> </a:t>
            </a:r>
            <a:r>
              <a:rPr lang="en-US" sz="2400" dirty="0">
                <a:solidFill>
                  <a:srgbClr val="FF0000"/>
                </a:solidFill>
              </a:rPr>
              <a:t>Backbone</a:t>
            </a:r>
            <a:r>
              <a:rPr lang="en-US" sz="2400" dirty="0"/>
              <a:t>: CSPDarknet53</a:t>
            </a:r>
          </a:p>
          <a:p>
            <a:pPr marL="0" indent="0">
              <a:buNone/>
            </a:pPr>
            <a:r>
              <a:rPr lang="en-US" sz="2400" dirty="0"/>
              <a:t>Spatial pyramid pooling additional module </a:t>
            </a:r>
          </a:p>
          <a:p>
            <a:pPr>
              <a:buFontTx/>
              <a:buChar char="-"/>
            </a:pPr>
            <a:r>
              <a:rPr lang="en-US" sz="2400" dirty="0">
                <a:solidFill>
                  <a:srgbClr val="FF0000"/>
                </a:solidFill>
              </a:rPr>
              <a:t>Neck</a:t>
            </a:r>
            <a:r>
              <a:rPr lang="en-US" sz="2400" dirty="0"/>
              <a:t>: </a:t>
            </a:r>
            <a:r>
              <a:rPr lang="en-US" sz="2400" dirty="0" err="1"/>
              <a:t>PANet</a:t>
            </a:r>
            <a:r>
              <a:rPr lang="en-US" sz="2400" dirty="0"/>
              <a:t> path-aggregation </a:t>
            </a:r>
          </a:p>
          <a:p>
            <a:pPr>
              <a:buFontTx/>
              <a:buChar char="-"/>
            </a:pPr>
            <a:r>
              <a:rPr lang="en-US" sz="2400" dirty="0">
                <a:solidFill>
                  <a:srgbClr val="FF0000"/>
                </a:solidFill>
              </a:rPr>
              <a:t>Head</a:t>
            </a:r>
            <a:r>
              <a:rPr lang="en-US" sz="2400" dirty="0"/>
              <a:t>: YOLOv3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YOLOR:</a:t>
            </a:r>
          </a:p>
          <a:p>
            <a:pPr>
              <a:buFontTx/>
              <a:buChar char="-"/>
            </a:pPr>
            <a:r>
              <a:rPr lang="en-US" sz="2400" dirty="0"/>
              <a:t>Feature alignment</a:t>
            </a:r>
          </a:p>
          <a:p>
            <a:pPr>
              <a:buFontTx/>
              <a:buChar char="-"/>
            </a:pPr>
            <a:r>
              <a:rPr lang="en-US" sz="2400" dirty="0"/>
              <a:t>Multi tasking </a:t>
            </a:r>
          </a:p>
          <a:p>
            <a:pPr>
              <a:buFontTx/>
              <a:buChar char="-"/>
            </a:pPr>
            <a:r>
              <a:rPr lang="en-US" sz="2400" dirty="0"/>
              <a:t>Prediction refinement</a:t>
            </a:r>
          </a:p>
          <a:p>
            <a:pPr marL="0" indent="0">
              <a:buNone/>
            </a:pPr>
            <a:endParaRPr lang="en-US" sz="2400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69166E2-D916-48AD-A620-68D058120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Compared Architectures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E8F89C-0770-466B-963D-12616EDB7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4</a:t>
            </a:fld>
            <a:endParaRPr lang="zh-TW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596AC8-1FA3-48D4-9956-9967794E1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612" y="4112475"/>
            <a:ext cx="10379877" cy="30873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99F8E44-C3B2-4F98-8A84-2AC53A7FBE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40477"/>
            <a:ext cx="3971653" cy="3131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378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FC1147B-7422-4DDE-8179-74D54F40BF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257" y="1201850"/>
            <a:ext cx="11930743" cy="5037776"/>
          </a:xfrm>
        </p:spPr>
        <p:txBody>
          <a:bodyPr numCol="2">
            <a:normAutofit/>
          </a:bodyPr>
          <a:lstStyle/>
          <a:p>
            <a:pPr marL="0" indent="0">
              <a:buNone/>
            </a:pPr>
            <a:r>
              <a:rPr lang="en-US" sz="2400" b="1" dirty="0"/>
              <a:t>YOLOv4: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US" sz="1400" dirty="0"/>
              <a:t>Weighted-Residual-Connections (</a:t>
            </a:r>
            <a:r>
              <a:rPr lang="en-US" sz="1400" dirty="0">
                <a:solidFill>
                  <a:srgbClr val="FF0000"/>
                </a:solidFill>
              </a:rPr>
              <a:t>WRC</a:t>
            </a:r>
            <a:r>
              <a:rPr lang="en-US" sz="1400" dirty="0"/>
              <a:t>)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US" sz="1400" dirty="0"/>
              <a:t>Cross-Stage-Partial-Connections (</a:t>
            </a:r>
            <a:r>
              <a:rPr lang="en-US" sz="1400" dirty="0">
                <a:solidFill>
                  <a:srgbClr val="FF0000"/>
                </a:solidFill>
              </a:rPr>
              <a:t>CSP</a:t>
            </a:r>
            <a:r>
              <a:rPr lang="en-US" sz="1400" dirty="0"/>
              <a:t>), </a:t>
            </a:r>
          </a:p>
          <a:p>
            <a:pPr marL="800100" lvl="1" indent="-342900" fontAlgn="base">
              <a:buFont typeface="+mj-lt"/>
              <a:buAutoNum type="arabicPeriod"/>
            </a:pPr>
            <a:r>
              <a:rPr lang="en-US" sz="1400" dirty="0"/>
              <a:t>A new backbone that can </a:t>
            </a:r>
            <a:r>
              <a:rPr lang="en-US" sz="1400" dirty="0">
                <a:solidFill>
                  <a:srgbClr val="FF0000"/>
                </a:solidFill>
              </a:rPr>
              <a:t>enhance learning capability of CNN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US" sz="1400" dirty="0"/>
              <a:t>Cross mini-Batch Normalization (</a:t>
            </a:r>
            <a:r>
              <a:rPr lang="en-US" sz="1400" dirty="0" err="1">
                <a:solidFill>
                  <a:srgbClr val="FF0000"/>
                </a:solidFill>
              </a:rPr>
              <a:t>CmBN</a:t>
            </a:r>
            <a:r>
              <a:rPr lang="en-US" sz="1400" dirty="0"/>
              <a:t>), </a:t>
            </a:r>
          </a:p>
          <a:p>
            <a:pPr marL="800100" lvl="1" indent="-342900" fontAlgn="base">
              <a:buFont typeface="+mj-lt"/>
              <a:buAutoNum type="arabicPeriod"/>
            </a:pPr>
            <a:r>
              <a:rPr lang="en-US" sz="1400" dirty="0"/>
              <a:t>represents a CBN modified version which assumes a batch contains four mini-batches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US" sz="1400" dirty="0"/>
              <a:t>Self-adversarial-training (</a:t>
            </a:r>
            <a:r>
              <a:rPr lang="en-US" sz="1400" dirty="0">
                <a:solidFill>
                  <a:srgbClr val="FF0000"/>
                </a:solidFill>
              </a:rPr>
              <a:t>SAT</a:t>
            </a:r>
            <a:r>
              <a:rPr lang="en-US" sz="1400" dirty="0"/>
              <a:t>), </a:t>
            </a:r>
          </a:p>
          <a:p>
            <a:pPr marL="800100" lvl="1" indent="-342900" fontAlgn="base">
              <a:buFont typeface="+mj-lt"/>
              <a:buAutoNum type="arabicPeriod"/>
            </a:pPr>
            <a:r>
              <a:rPr lang="en-US" sz="1400" dirty="0"/>
              <a:t>represents a new data augmentation technique that operates in 2 forward backward stages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US" sz="1400" dirty="0">
                <a:solidFill>
                  <a:srgbClr val="FF0000"/>
                </a:solidFill>
              </a:rPr>
              <a:t>Mish-activation</a:t>
            </a:r>
            <a:r>
              <a:rPr lang="en-US" sz="1400" dirty="0"/>
              <a:t>,</a:t>
            </a:r>
          </a:p>
          <a:p>
            <a:pPr marL="800100" lvl="1" indent="-342900" fontAlgn="base">
              <a:buFont typeface="+mj-lt"/>
              <a:buAutoNum type="arabicPeriod"/>
            </a:pPr>
            <a:r>
              <a:rPr lang="en-US" sz="1400" dirty="0"/>
              <a:t> A novel self regularized non-monotonic neural activation function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US" sz="1400" dirty="0">
                <a:solidFill>
                  <a:srgbClr val="FF0000"/>
                </a:solidFill>
              </a:rPr>
              <a:t>Mosaic</a:t>
            </a:r>
            <a:r>
              <a:rPr lang="en-US" sz="1400" dirty="0"/>
              <a:t> data augmentation, </a:t>
            </a:r>
          </a:p>
          <a:p>
            <a:pPr marL="800100" lvl="1" indent="-342900" fontAlgn="base">
              <a:buFont typeface="+mj-lt"/>
              <a:buAutoNum type="arabicPeriod"/>
            </a:pPr>
            <a:r>
              <a:rPr lang="en-US" sz="1400" dirty="0"/>
              <a:t>represents a new data augmentation method that mixes 4 training images instead of a single image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US" sz="1400" dirty="0" err="1">
                <a:solidFill>
                  <a:srgbClr val="FF0000"/>
                </a:solidFill>
              </a:rPr>
              <a:t>DropBlock</a:t>
            </a:r>
            <a:r>
              <a:rPr lang="en-US" sz="1400" dirty="0"/>
              <a:t> regularization, a better regularization method for CNN</a:t>
            </a:r>
          </a:p>
          <a:p>
            <a:pPr marL="342900" indent="-342900" fontAlgn="base">
              <a:buFont typeface="+mj-lt"/>
              <a:buAutoNum type="arabicPeriod"/>
            </a:pPr>
            <a:r>
              <a:rPr lang="en-US" sz="1400" dirty="0" err="1">
                <a:solidFill>
                  <a:srgbClr val="FF0000"/>
                </a:solidFill>
              </a:rPr>
              <a:t>CIoU</a:t>
            </a:r>
            <a:r>
              <a:rPr lang="en-US" sz="1400" dirty="0"/>
              <a:t> loss, </a:t>
            </a:r>
          </a:p>
          <a:p>
            <a:pPr marL="800100" lvl="1" indent="-342900" fontAlgn="base">
              <a:buFont typeface="+mj-lt"/>
              <a:buAutoNum type="arabicPeriod"/>
            </a:pPr>
            <a:r>
              <a:rPr lang="en-US" sz="1400" dirty="0"/>
              <a:t>achieves better convergence speed and accuracy on the </a:t>
            </a:r>
            <a:r>
              <a:rPr lang="en-US" sz="1400" dirty="0" err="1"/>
              <a:t>BBox</a:t>
            </a:r>
            <a:r>
              <a:rPr lang="en-US" sz="1400" dirty="0"/>
              <a:t> regression problem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YOLOR:</a:t>
            </a:r>
          </a:p>
          <a:p>
            <a:pPr marL="457200" indent="-457200"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Explicit knowledge </a:t>
            </a:r>
            <a:r>
              <a:rPr lang="en-US" dirty="0"/>
              <a:t>– the knowledge receives from observation such as, to see, to hear, etc.</a:t>
            </a:r>
          </a:p>
          <a:p>
            <a:pPr marL="457200" indent="-457200"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Implicit knowledge </a:t>
            </a:r>
            <a:r>
              <a:rPr lang="en-US" dirty="0"/>
              <a:t>– the knowledge receives from experiment, from learning.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400" b="1" dirty="0"/>
              <a:t>- </a:t>
            </a:r>
            <a:r>
              <a:rPr lang="en-US" dirty="0"/>
              <a:t>To </a:t>
            </a:r>
            <a:r>
              <a:rPr lang="en-US" dirty="0">
                <a:solidFill>
                  <a:srgbClr val="FF0000"/>
                </a:solidFill>
              </a:rPr>
              <a:t>serve many tasks </a:t>
            </a:r>
            <a:r>
              <a:rPr lang="en-US" dirty="0"/>
              <a:t>given one input,  train to </a:t>
            </a:r>
            <a:r>
              <a:rPr lang="en-US" dirty="0">
                <a:solidFill>
                  <a:srgbClr val="FF0000"/>
                </a:solidFill>
              </a:rPr>
              <a:t>solve multiple problems at once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- To have CNNs both to learn </a:t>
            </a:r>
            <a:r>
              <a:rPr lang="en-US" dirty="0">
                <a:solidFill>
                  <a:srgbClr val="FF0000"/>
                </a:solidFill>
              </a:rPr>
              <a:t>how to get </a:t>
            </a:r>
            <a:r>
              <a:rPr lang="en-US" dirty="0"/>
              <a:t>outputs and what all the </a:t>
            </a:r>
            <a:r>
              <a:rPr lang="en-US" dirty="0">
                <a:solidFill>
                  <a:srgbClr val="FF0000"/>
                </a:solidFill>
              </a:rPr>
              <a:t>different outputs </a:t>
            </a:r>
            <a:r>
              <a:rPr lang="en-US" dirty="0"/>
              <a:t>could be. Rather than just one output, it can have many. </a:t>
            </a:r>
          </a:p>
          <a:p>
            <a:pPr marL="0" indent="0">
              <a:buNone/>
            </a:pPr>
            <a:r>
              <a:rPr lang="en-US" sz="2400" dirty="0"/>
              <a:t>- </a:t>
            </a:r>
            <a:r>
              <a:rPr lang="en-US" dirty="0">
                <a:solidFill>
                  <a:srgbClr val="FF0000"/>
                </a:solidFill>
              </a:rPr>
              <a:t>Combination </a:t>
            </a:r>
            <a:r>
              <a:rPr lang="en-US" dirty="0"/>
              <a:t>of </a:t>
            </a:r>
            <a:r>
              <a:rPr lang="en-US" dirty="0">
                <a:solidFill>
                  <a:srgbClr val="FF0000"/>
                </a:solidFill>
              </a:rPr>
              <a:t>implicit and explicit </a:t>
            </a:r>
            <a:r>
              <a:rPr lang="en-US" dirty="0"/>
              <a:t>makes the </a:t>
            </a:r>
            <a:r>
              <a:rPr lang="en-US" dirty="0">
                <a:solidFill>
                  <a:srgbClr val="FF0000"/>
                </a:solidFill>
              </a:rPr>
              <a:t>improving in speed</a:t>
            </a:r>
            <a:r>
              <a:rPr lang="en-US" dirty="0"/>
              <a:t>.</a:t>
            </a:r>
            <a:br>
              <a:rPr lang="en-US" sz="2400" dirty="0"/>
            </a:br>
            <a:endParaRPr lang="en-US" sz="2400" b="1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A0B88A9-1572-4F8E-B195-1E8817DA5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 features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33EFAF-A0A5-4E98-A5CF-ED1696DD8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1273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7A7EA97-CF77-4054-8D1F-75934BAE3B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71450" indent="-171450">
              <a:buFontTx/>
              <a:buChar char="-"/>
            </a:pPr>
            <a:r>
              <a:rPr lang="en-US" dirty="0"/>
              <a:t>Question: </a:t>
            </a:r>
            <a:r>
              <a:rPr lang="en-US" dirty="0" err="1"/>
              <a:t>YoloR</a:t>
            </a:r>
            <a:r>
              <a:rPr lang="en-US" dirty="0"/>
              <a:t> adopts any model in yolov4? Do they have common component or not?</a:t>
            </a:r>
          </a:p>
          <a:p>
            <a:pPr marL="713250" lvl="1" indent="-171450">
              <a:buFontTx/>
              <a:buChar char="-"/>
            </a:pPr>
            <a:r>
              <a:rPr lang="en-US" dirty="0"/>
              <a:t>Training model through </a:t>
            </a:r>
            <a:r>
              <a:rPr lang="en-US" dirty="0">
                <a:solidFill>
                  <a:srgbClr val="FF0000"/>
                </a:solidFill>
              </a:rPr>
              <a:t>backpropagation algorithm </a:t>
            </a:r>
            <a:r>
              <a:rPr lang="en-US" dirty="0"/>
              <a:t>as any other models.</a:t>
            </a:r>
          </a:p>
          <a:p>
            <a:pPr marL="171450" indent="-171450">
              <a:buFontTx/>
              <a:buChar char="-"/>
            </a:pPr>
            <a:r>
              <a:rPr lang="en-US" dirty="0"/>
              <a:t>Question: What is the most important progress which improve from the previous version?</a:t>
            </a:r>
          </a:p>
          <a:p>
            <a:pPr marL="713250" lvl="1" indent="-171450">
              <a:buFontTx/>
              <a:buChar char="-"/>
            </a:pPr>
            <a:r>
              <a:rPr lang="en-US" dirty="0"/>
              <a:t>This version includes </a:t>
            </a:r>
            <a:r>
              <a:rPr lang="en-US" dirty="0">
                <a:solidFill>
                  <a:srgbClr val="FF0000"/>
                </a:solidFill>
              </a:rPr>
              <a:t>unified network</a:t>
            </a:r>
            <a:r>
              <a:rPr lang="en-US" dirty="0"/>
              <a:t>, they used </a:t>
            </a:r>
            <a:r>
              <a:rPr lang="en-US" dirty="0">
                <a:solidFill>
                  <a:srgbClr val="FF0000"/>
                </a:solidFill>
              </a:rPr>
              <a:t>explicit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implicit knowledges </a:t>
            </a:r>
            <a:r>
              <a:rPr lang="en-US" dirty="0"/>
              <a:t>as special features. </a:t>
            </a:r>
          </a:p>
          <a:p>
            <a:pPr marL="171450" indent="-171450">
              <a:buFontTx/>
              <a:buChar char="-"/>
            </a:pPr>
            <a:r>
              <a:rPr lang="en-US" dirty="0"/>
              <a:t>Question: What are the problems of R?</a:t>
            </a:r>
          </a:p>
          <a:p>
            <a:pPr marL="713250" lvl="1" indent="-171450">
              <a:buFontTx/>
              <a:buChar char="-"/>
            </a:pPr>
            <a:r>
              <a:rPr lang="en-US" dirty="0"/>
              <a:t>The</a:t>
            </a:r>
            <a:r>
              <a:rPr lang="en-US" dirty="0">
                <a:solidFill>
                  <a:srgbClr val="FF0000"/>
                </a:solidFill>
              </a:rPr>
              <a:t> parameters </a:t>
            </a:r>
            <a:r>
              <a:rPr lang="en-US" dirty="0"/>
              <a:t>of transformer model are often </a:t>
            </a:r>
            <a:r>
              <a:rPr lang="en-US" dirty="0">
                <a:solidFill>
                  <a:srgbClr val="FF0000"/>
                </a:solidFill>
              </a:rPr>
              <a:t>billions</a:t>
            </a:r>
            <a:r>
              <a:rPr lang="en-US" dirty="0"/>
              <a:t> or even ten of billions.</a:t>
            </a:r>
          </a:p>
          <a:p>
            <a:pPr marL="713250" lvl="1" indent="-171450">
              <a:buFontTx/>
              <a:buChar char="-"/>
            </a:pPr>
            <a:r>
              <a:rPr lang="en-US" dirty="0"/>
              <a:t>It requires </a:t>
            </a:r>
            <a:r>
              <a:rPr lang="en-US" dirty="0">
                <a:solidFill>
                  <a:srgbClr val="FF0000"/>
                </a:solidFill>
              </a:rPr>
              <a:t>huge computing resources </a:t>
            </a:r>
            <a:r>
              <a:rPr lang="en-US" dirty="0"/>
              <a:t>to train a </a:t>
            </a:r>
            <a:r>
              <a:rPr lang="en-US" dirty="0">
                <a:solidFill>
                  <a:srgbClr val="FF0000"/>
                </a:solidFill>
              </a:rPr>
              <a:t>pre-trained models</a:t>
            </a:r>
            <a:r>
              <a:rPr lang="en-US" dirty="0"/>
              <a:t>.</a:t>
            </a:r>
          </a:p>
          <a:p>
            <a:pPr marL="713250" lvl="1" indent="-171450">
              <a:buFontTx/>
              <a:buChar char="-"/>
            </a:pPr>
            <a:r>
              <a:rPr lang="en-US" dirty="0"/>
              <a:t>Therefore, it is a technology that can only be </a:t>
            </a:r>
            <a:r>
              <a:rPr lang="en-US" dirty="0">
                <a:solidFill>
                  <a:srgbClr val="FF0000"/>
                </a:solidFill>
              </a:rPr>
              <a:t>financially developed by large enterprises</a:t>
            </a:r>
            <a:r>
              <a:rPr lang="en-US" dirty="0"/>
              <a:t>.</a:t>
            </a:r>
          </a:p>
          <a:p>
            <a:pPr marL="713250" lvl="1" indent="-171450">
              <a:buFontTx/>
              <a:buChar char="-"/>
            </a:pPr>
            <a:r>
              <a:rPr lang="en-US" dirty="0"/>
              <a:t>The pre-training models of these large companies might have </a:t>
            </a:r>
            <a:r>
              <a:rPr lang="en-US" dirty="0">
                <a:solidFill>
                  <a:srgbClr val="FF0000"/>
                </a:solidFill>
              </a:rPr>
              <a:t>copyright concerns </a:t>
            </a:r>
            <a:r>
              <a:rPr lang="en-US" dirty="0"/>
              <a:t>on the training materials they used, so they </a:t>
            </a:r>
            <a:r>
              <a:rPr lang="en-US" dirty="0">
                <a:solidFill>
                  <a:srgbClr val="FF0000"/>
                </a:solidFill>
              </a:rPr>
              <a:t>have to spend money to train </a:t>
            </a:r>
            <a:r>
              <a:rPr lang="en-US" dirty="0"/>
              <a:t>the models.</a:t>
            </a:r>
          </a:p>
          <a:p>
            <a:pPr marL="171450" indent="-171450">
              <a:buFontTx/>
              <a:buChar char="-"/>
            </a:pPr>
            <a:r>
              <a:rPr lang="en-US" dirty="0"/>
              <a:t>Question: Concept points? To make comparison</a:t>
            </a:r>
          </a:p>
          <a:p>
            <a:pPr marL="713250" lvl="1" indent="-171450">
              <a:buFontTx/>
              <a:buChar char="-"/>
            </a:pPr>
            <a:r>
              <a:rPr lang="en-US" dirty="0" err="1"/>
              <a:t>YoloR</a:t>
            </a:r>
            <a:r>
              <a:rPr lang="en-US" dirty="0"/>
              <a:t> is different from other version of Yolo because it uses a </a:t>
            </a:r>
            <a:r>
              <a:rPr lang="en-US" dirty="0">
                <a:solidFill>
                  <a:srgbClr val="FF0000"/>
                </a:solidFill>
              </a:rPr>
              <a:t>unified network </a:t>
            </a:r>
            <a:r>
              <a:rPr lang="en-US" dirty="0"/>
              <a:t>to encode implicit knowledge and explicit knowledge at the same time.</a:t>
            </a:r>
          </a:p>
          <a:p>
            <a:pPr marL="713250" lvl="1" indent="-171450">
              <a:buFontTx/>
              <a:buChar char="-"/>
            </a:pPr>
            <a:r>
              <a:rPr lang="en-US" dirty="0" err="1"/>
              <a:t>YoloR</a:t>
            </a:r>
            <a:r>
              <a:rPr lang="en-US" dirty="0"/>
              <a:t> can perform Kernel space alignment, prediction refinement, multi-task learning in a CNN.</a:t>
            </a:r>
          </a:p>
          <a:p>
            <a:pPr marL="713250" lvl="1" indent="-171450">
              <a:buFontTx/>
              <a:buChar char="-"/>
            </a:pPr>
            <a:endParaRPr lang="en-US" dirty="0"/>
          </a:p>
          <a:p>
            <a:pPr marL="713250" lvl="1" indent="-171450">
              <a:buFontTx/>
              <a:buChar char="-"/>
            </a:pPr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CCAB878-BB8D-4D8D-B278-E0BC3B0EA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 and Answers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82C307-0DB6-4074-946F-515406749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6</a:t>
            </a:fld>
            <a:endParaRPr lang="zh-TW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AD2355-E9C5-41FA-ADC9-99405585D4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380" y="5051707"/>
            <a:ext cx="2740026" cy="10581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7EE3D8-C2A0-4EDE-A5EF-9A4F998CA4D6}"/>
              </a:ext>
            </a:extLst>
          </p:cNvPr>
          <p:cNvSpPr txBox="1"/>
          <p:nvPr/>
        </p:nvSpPr>
        <p:spPr>
          <a:xfrm>
            <a:off x="7566660" y="6308209"/>
            <a:ext cx="18934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unified model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35B170-E507-434E-A918-2864629D03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9339" y="4791589"/>
            <a:ext cx="2286002" cy="1798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934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040868A-23B7-6ED3-78F2-253FC95D1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the purpose of each boxes. (need to have the purpose first),(* purpose of analyzer -&gt; representation).</a:t>
            </a:r>
          </a:p>
          <a:p>
            <a:r>
              <a:rPr lang="en-US" dirty="0"/>
              <a:t>Can we replace some of this box with some image processing techniques? To have more efficient ways.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1D0DEDC-E8E5-AAC5-71EB-72279D261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5D298A-17F4-77E4-B6D6-F7DD9B29C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9E983-480B-48C5-9E0F-D21C0DFBB5C0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8540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209860</TotalTime>
  <Words>659</Words>
  <Application>Microsoft Office PowerPoint</Application>
  <PresentationFormat>Widescreen</PresentationFormat>
  <Paragraphs>87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Times New Roman</vt:lpstr>
      <vt:lpstr>Office 佈景主題</vt:lpstr>
      <vt:lpstr>專題進度報告</vt:lpstr>
      <vt:lpstr>專題進度報告</vt:lpstr>
      <vt:lpstr>To Do List</vt:lpstr>
      <vt:lpstr>Compared Architectures</vt:lpstr>
      <vt:lpstr>Special features</vt:lpstr>
      <vt:lpstr>Questions and Answers</vt:lpstr>
      <vt:lpstr>Next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光流影像處理</dc:title>
  <dc:creator>User</dc:creator>
  <cp:lastModifiedBy>Mahju._. Mahju._.</cp:lastModifiedBy>
  <cp:revision>2388</cp:revision>
  <dcterms:created xsi:type="dcterms:W3CDTF">2019-03-11T13:47:46Z</dcterms:created>
  <dcterms:modified xsi:type="dcterms:W3CDTF">2022-06-22T06:44:32Z</dcterms:modified>
</cp:coreProperties>
</file>